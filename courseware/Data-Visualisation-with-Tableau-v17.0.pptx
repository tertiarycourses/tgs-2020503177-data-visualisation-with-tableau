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Marks in view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Sheet1!$A$2:$A$5</c:f>
              <c:strCache>
                <c:ptCount val="4"/>
                <c:pt idx="0">
                  <c:v>No dimension</c:v>
                </c:pt>
                <c:pt idx="1">
                  <c:v>Region</c:v>
                </c:pt>
                <c:pt idx="2">
                  <c:v>Outlet</c:v>
                </c:pt>
                <c:pt idx="3">
                  <c:v>Order ID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12</c:v>
                </c:pt>
                <c:pt idx="3">
                  <c:v>72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Sheet1!$A$2:$A$6</c:f>
              <c:strCache>
                <c:ptCount val="5"/>
                <c:pt idx="0">
                  <c:v>Singapore</c:v>
                </c:pt>
                <c:pt idx="1">
                  <c:v>Malaysia</c:v>
                </c:pt>
                <c:pt idx="2">
                  <c:v>Indonesia</c:v>
                </c:pt>
                <c:pt idx="3">
                  <c:v>Thailand</c:v>
                </c:pt>
                <c:pt idx="4">
                  <c:v>Philippines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820</c:v>
                </c:pt>
                <c:pt idx="1">
                  <c:v>510</c:v>
                </c:pt>
                <c:pt idx="2">
                  <c:v>470</c:v>
                </c:pt>
                <c:pt idx="3">
                  <c:v>390</c:v>
                </c:pt>
                <c:pt idx="4">
                  <c:v>330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Office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460</c:v>
                </c:pt>
                <c:pt idx="1">
                  <c:v>520</c:v>
                </c:pt>
                <c:pt idx="2">
                  <c:v>590</c:v>
                </c:pt>
                <c:pt idx="3">
                  <c:v>680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Home</c:v>
                </c:pt>
              </c:strCache>
            </c:strRef>
          </c:tx>
          <c:spPr>
            <a:solidFill>
              <a:srgbClr val="10B981"/>
            </a:solidFill>
            <a:ln>
              <a:solidFill>
                <a:srgbClr val="10B981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390</c:v>
                </c:pt>
                <c:pt idx="1">
                  <c:v>430</c:v>
                </c:pt>
                <c:pt idx="2">
                  <c:v>510</c:v>
                </c:pt>
                <c:pt idx="3">
                  <c:v>560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Mobile</c:v>
                </c:pt>
              </c:strCache>
            </c:strRef>
          </c:tx>
          <c:spPr>
            <a:solidFill>
              <a:srgbClr val="7C3AED"/>
            </a:solidFill>
            <a:ln>
              <a:solidFill>
                <a:srgbClr val="7C3AED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310</c:v>
                </c:pt>
                <c:pt idx="1">
                  <c:v>360</c:v>
                </c:pt>
                <c:pt idx="2">
                  <c:v>410</c:v>
                </c:pt>
                <c:pt idx="3">
                  <c:v>455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Sheet1!$A$2:$A$13</c:f>
              <c:strCache>
                <c:ptCount val="12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  <c:pt idx="6">
                  <c:v>Jan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410</c:v>
                </c:pt>
                <c:pt idx="1">
                  <c:v>425</c:v>
                </c:pt>
                <c:pt idx="2">
                  <c:v>439</c:v>
                </c:pt>
                <c:pt idx="3">
                  <c:v>455</c:v>
                </c:pt>
                <c:pt idx="4">
                  <c:v>472</c:v>
                </c:pt>
                <c:pt idx="5">
                  <c:v>488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10B981"/>
            </a:solidFill>
            <a:ln>
              <a:solidFill>
                <a:srgbClr val="10B981"/>
              </a:solidFill>
            </a:ln>
          </c:spPr>
          <c:cat>
            <c:strRef>
              <c:f>Sheet1!$A$2:$A$13</c:f>
              <c:strCache>
                <c:ptCount val="12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  <c:pt idx="6">
                  <c:v>Jan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5">
                  <c:v>488</c:v>
                </c:pt>
                <c:pt idx="6">
                  <c:v>505</c:v>
                </c:pt>
                <c:pt idx="7">
                  <c:v>521</c:v>
                </c:pt>
                <c:pt idx="8">
                  <c:v>540</c:v>
                </c:pt>
                <c:pt idx="9">
                  <c:v>558</c:v>
                </c:pt>
                <c:pt idx="10">
                  <c:v>577</c:v>
                </c:pt>
                <c:pt idx="11">
                  <c:v>596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0503177-Data-Visualisation-with-Tableau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s.tertiaryinfotech.com/" TargetMode="Externa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201168"/>
            <a:ext cx="6684264" cy="64556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10912" y="201168"/>
            <a:ext cx="1143000" cy="6455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12064"/>
            <a:ext cx="731520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" y="1572768"/>
            <a:ext cx="48646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WSQ COURSE 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938528"/>
            <a:ext cx="4800600" cy="1536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Data Visualisation with Tableau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3675887"/>
            <a:ext cx="2148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4005072"/>
            <a:ext cx="47091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Course Code: TGS-2020503177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Visualization · ICT-DIT-3006-1.1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Trainer: 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358384"/>
            <a:ext cx="4681728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Tertiary Infotech Academy Pte Ltd ·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5879592"/>
            <a:ext cx="468172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Version v17.0 · 15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6144768"/>
            <a:ext cx="5440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Concept visual generated for this course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075688"/>
            <a:ext cx="118872" cy="208483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2029968"/>
            <a:ext cx="86410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514600"/>
            <a:ext cx="9738360" cy="12618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Welcome and Course Orientation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502920"/>
            <a:ext cx="210312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AM 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SSG digital attendance at the start of each 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PM 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the second attendance at the instructed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Assessment 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Take the separate digital attendance before the papers.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Maintain at least 75% attendance and pass the assessment.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REUSABLE BLANK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83080"/>
            <a:ext cx="3310128" cy="4325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19456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94560"/>
            <a:ext cx="1554480" cy="1554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023360"/>
            <a:ext cx="2871216" cy="4937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General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572000"/>
            <a:ext cx="287121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this profile before delivery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1828800"/>
            <a:ext cx="149961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904" y="1828800"/>
            <a:ext cx="498348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487168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2532888"/>
            <a:ext cx="149961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2532888"/>
            <a:ext cx="498348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191256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6864" y="3236976"/>
            <a:ext cx="149961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9904" y="3236976"/>
            <a:ext cx="498348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95344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26864" y="3941064"/>
            <a:ext cx="149961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EXPERTISE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9904" y="3941064"/>
            <a:ext cx="498348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599432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6864" y="4645152"/>
            <a:ext cx="149961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9904" y="4645152"/>
            <a:ext cx="498348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30352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6864" y="5349240"/>
            <a:ext cx="149961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9904" y="5349240"/>
            <a:ext cx="498348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83080"/>
            <a:ext cx="3310128" cy="4325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19456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94560"/>
            <a:ext cx="1554480" cy="1554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023360"/>
            <a:ext cx="2871216" cy="4937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572000"/>
            <a:ext cx="287121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1828800"/>
            <a:ext cx="149961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904" y="1828800"/>
            <a:ext cx="498348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Principal Trainer and Chief Instructional Designer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487168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2532888"/>
            <a:ext cx="149961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EXPERTISE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2532888"/>
            <a:ext cx="498348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Data visualisation, analytics, AI and business reporting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191256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6864" y="3236976"/>
            <a:ext cx="149961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CERTIFICATION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9904" y="3236976"/>
            <a:ext cx="498348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ACLP-certified adult educator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95344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26864" y="3941064"/>
            <a:ext cx="149961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DELIVERS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9904" y="3941064"/>
            <a:ext cx="498348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WSQ and professional technology programmes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599432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6864" y="4645152"/>
            <a:ext cx="149961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9904" y="4645152"/>
            <a:ext cx="498348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Cross-industry analytics and workforce training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30352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6864" y="5349240"/>
            <a:ext cx="149961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9904" y="5349240"/>
            <a:ext cx="498348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Your role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decisions do you support?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Your Tableau baseline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have you already built?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Your data challenge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Where does interpretation break down?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Your 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visual decision product do you want to create?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18236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Be present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 on time and complete digital attendance.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1823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Ask, test and explain your reasoning.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4"/>
            <a:ext cx="82296" cy="1328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371246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Critique ideas, not people.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285744"/>
            <a:ext cx="82296" cy="1328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71246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Protect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only the supplied synthetic datasets.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15840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" y="52425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Save versions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source, work-in-progress and packaged evidence.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815840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4808" y="524256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Learn by doing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Attempt before opening the sample workbook.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 — Two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59689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9:00–10:30 · Tableau foundations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10:40–12:30 · Labs 1–2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420624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1:30–3:15 · Sources and chart choice</a:t>
            </a:r>
          </a:p>
        </p:txBody>
      </p:sp>
      <p:sp>
        <p:nvSpPr>
          <p:cNvPr id="19" name="Oval 18"/>
          <p:cNvSpPr/>
          <p:nvPr/>
        </p:nvSpPr>
        <p:spPr>
          <a:xfrm>
            <a:off x="1024128" y="501091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010912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974336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3:25–6:00 · Labs 3–5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59689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9:00–10:30 · Dashboards and actions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10:40–12:30 · Labs 6–8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20624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7728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1:30–4:00 · Calculations, analytics and Labs 9–10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501091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010912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4974336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4:00–6:00 · WA and PP assessment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18236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basic Tableau features for displaying information.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1823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Synthesise various plots to present data visually.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4"/>
            <a:ext cx="82296" cy="1328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371246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Transform data to create informative and dynamic data displays.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285744"/>
            <a:ext cx="82296" cy="1328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71246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dashboards and scorecards to display internal and external benchmark data.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15840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" y="52425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calculations and parameters to create interactive graphics, visuals and technical features.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815840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4808" y="524256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LO6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Perform analytics and communicate data limitations and interpretations of findings.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DATA VISUALIZATION · ICT-DIT-3006-1.1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18236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Interpretation of data analysis and findings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1823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Types of information displays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4"/>
            <a:ext cx="82296" cy="1328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371246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Suitability of data representations and visual displays for different contexts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285744"/>
            <a:ext cx="82296" cy="1328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71246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Data visualisation tools and techniques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15840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" y="52425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Elements of data dashboards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815840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4808" y="524256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A1–A6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Practical abilities span technique selection, visual organisation, dynamic displays, dashboards, interactivity and responsible interpretation.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18236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Individual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discussion or sharing during either paper.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1823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slides, Learner Guide and approved materials only.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4"/>
            <a:ext cx="82296" cy="1328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371246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Devices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phones and unrelated materials under the 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285744"/>
            <a:ext cx="82296" cy="1328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71246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Submit your own Tableau workbook and screenshots.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15840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" y="52425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Integrity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photos, recording or verbatim copying.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815840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4808" y="524256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Re-assessment and appeal arrangements are available.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5 open-ended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60 minutes · open 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Practical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6 connected Tableau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60 minutes · open 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2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2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2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0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Competent or Not Yet Competent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0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Attendance and submission requirements apply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2689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2689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5651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1683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1683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6276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6276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0555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9238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5270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5270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4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4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4142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2825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8857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8857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53451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3451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7729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6412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2444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2444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37038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37038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1316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828800"/>
            <a:ext cx="3401568" cy="37490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Option A · Clone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Clone the GitHub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Open the numbered lab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4297680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Start with the root Excel 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828800"/>
            <a:ext cx="3401568" cy="37490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Option B · Download 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GitHub &gt; Code &gt; Download 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7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Extract the full folder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7" y="4297680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Keep Tableau and Excel together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2" y="1828800"/>
            <a:ext cx="3401568" cy="37490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3022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2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Lab discipline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0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Use the LG for detailed procedure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0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Reconcile against Excel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0" y="4297680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Package evidence as .twbx</a:t>
            </a:r>
          </a:p>
        </p:txBody>
      </p:sp>
      <p:sp>
        <p:nvSpPr>
          <p:cNvPr id="25" name="Rounded Rectangle 24">
            <a:hlinkClick r:id="rId2"/>
          </p:cNvPr>
          <p:cNvSpPr/>
          <p:nvPr/>
        </p:nvSpPr>
        <p:spPr>
          <a:xfrm>
            <a:off x="4462272" y="5687568"/>
            <a:ext cx="3273552" cy="42062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Open GitHub repository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LMS / 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828800"/>
            <a:ext cx="3401568" cy="37490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Open the LMS/TMS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Use your learner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4297680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Select this course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828800"/>
            <a:ext cx="3401568" cy="37490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2 ·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Learner slides and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7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Keep the lab folders intact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7" y="4297680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Use the current version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2" y="1828800"/>
            <a:ext cx="3401568" cy="37490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3022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2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3 · 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0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Check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0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Confirm version 17.0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0" y="4297680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Ask the trainer if files differ</a:t>
            </a:r>
          </a:p>
        </p:txBody>
      </p:sp>
      <p:sp>
        <p:nvSpPr>
          <p:cNvPr id="25" name="Rounded Rectangle 24">
            <a:hlinkClick r:id="rId2"/>
          </p:cNvPr>
          <p:cNvSpPr/>
          <p:nvPr/>
        </p:nvSpPr>
        <p:spPr>
          <a:xfrm>
            <a:off x="4462272" y="5687568"/>
            <a:ext cx="3273552" cy="42062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Open courseware portal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BEFORE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Tableau Safety and File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Public platform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Tableau Public is public by design; use only supplied synthetic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Packaged 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Save learner work as .twbx so local files travel with the workbook.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preservation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 the supplied Excel source unchanged and reconcile against its Control sheet.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Responsible claims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 filter scope, assumptions, limitations and monitoring trigger.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LEARNING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From Source to Decision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67712"/>
            <a:ext cx="1234440" cy="1234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67712"/>
            <a:ext cx="1234440" cy="12344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84831"/>
            <a:ext cx="8732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LEARNING JOURNEY · 6 TOPICS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560320"/>
            <a:ext cx="8732520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Connect → Model → Visualise → Interact → Analyse → Communicate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3822191"/>
            <a:ext cx="8732520" cy="12618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4023360"/>
            <a:ext cx="8156448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six linked topics progress from reliable source connection to responsible decision communication; detailed procedures stay in the Learner Guide.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075688"/>
            <a:ext cx="118872" cy="208483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2029968"/>
            <a:ext cx="86410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514600"/>
            <a:ext cx="9738360" cy="12618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Basic Tableau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3986784"/>
            <a:ext cx="9646920" cy="6766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Tableau ecosystem · interface · data roles · shelves · hierarchy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502920"/>
            <a:ext cx="210312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ALIGNMENT 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Basic Tableau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18236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Visual analysis cycle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Connect, explore, explain and refine around a decision question.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1823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Dimensions and measures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Dimensions slice the view; measures are aggregated to quantify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4"/>
            <a:ext cx="82296" cy="1328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371246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Discrete and continuous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Blue headers create categories; green axes create a continuous range.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285744"/>
            <a:ext cx="82296" cy="1328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71246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Workbook structure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Worksheets build views; dashboards combine them; stories sequence insights.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15840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" y="52425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Fields and metadata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Names, types, roles, aliases and default properties shape every view.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815840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4808" y="524256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Hierarchy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Ordered levels let users drill from overview to operational detail.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01 · 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Tableau Adds to Decision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Fast exploration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Drag-and-drop visual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Immediate feedback on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Connected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Files, databases and governed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Live or extracted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2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2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2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Communicable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0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Worksheets, dashboards and stories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0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Publish with context and 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01 · 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Visual Analysis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2689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2689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Frame the decision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5651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1683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1683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6276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6276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0555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Connect and profile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9238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5270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5270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4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4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4142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Build and compare 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2825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8857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8857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53451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3451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7729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Interpret patterns and limits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6412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2444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2444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37038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37038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1316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Share and monitor 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01 · 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Tableau Products and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59689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Desktop / Public author views and workbooks.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Cloud / Server govern sharing and collaboration.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420624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Prep supports repeatable cleaning and reshaping.</a:t>
            </a:r>
          </a:p>
        </p:txBody>
      </p:sp>
      <p:sp>
        <p:nvSpPr>
          <p:cNvPr id="19" name="Oval 18"/>
          <p:cNvSpPr/>
          <p:nvPr/>
        </p:nvSpPr>
        <p:spPr>
          <a:xfrm>
            <a:off x="1024128" y="501091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010912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974336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Reader opens packaged workbooks offline.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LENS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59689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Choose by data sensitivity and audience.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Tableau Public is public by design.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20624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7728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Publishing permissions are part of analysis quality.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501091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010912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4974336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course uses Desktop or Public for authoring.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01 · 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Workspace: One Canvas, Several Control Surfaces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Data pane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Fields, folders, hierarchies and metadata.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Shelves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Rows, Columns, Pages and Filters shape structure.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Marks card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Colour, size, label, detail, tooltip and shape.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View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Marks, axes, headers, legends and annotations.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01 · 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Dimensions and Measures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DIMENSIONS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59689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Dimensions describe who, what, where and when.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They create headers and define the level of detail.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420624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Examples: Region, Category, Customer and Order Date.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MEASURES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59689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Measures quantify how much or how many.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They are usually aggregated in the view.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20624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Examples: Sales, Profit, Quantity and Resolution Hours.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01 · 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Discrete and Continuous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Discrete field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Creates separate headers; shown as a blue pill.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Continuous field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Creates an axis across a range; shown as a green pill.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Date choice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Year may be discrete while exact date can be continuous.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Design effect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source field can create a different visual structure.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TOPIC 01 · 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Measures Aggregate at the View 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68096" y="1847088"/>
          <a:ext cx="6784848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45552" y="1847088"/>
            <a:ext cx="3584448" cy="4023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5552" y="1847088"/>
            <a:ext cx="3584448" cy="1005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157984"/>
            <a:ext cx="2999232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 THE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61488"/>
            <a:ext cx="2926080" cy="1188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Adding dimensions increases the number of marks and changes the level at which a measure is aggregated.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315968"/>
            <a:ext cx="2907792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Editable chart: change the embedded data, labels, axes and colours directly in PowerPoint.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01 · 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Rows, Columns and the Level of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Rows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Positions headers or axes vertically.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Columns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Positions headers or axes horizontally.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Detail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Adds marks without necessarily adding a visible encoding.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Granularity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added dimension can change the number of marks.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01 · 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Marks Encode Meaning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Position and 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Strong for accurate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Preferred for core quantitative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Colour and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Useful for emphasis and additional 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Need accessible legends and restraint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2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2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2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Label and tooltip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0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Add exact values and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0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Should not compensate for a weak 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01 · 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Workbook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2689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2689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Data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5651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1683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1683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6276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6276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0555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Worksheet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9238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5270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5270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4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4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4142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2825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8857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8857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53451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3451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7729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6412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2444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2444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37038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37038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1316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Published workbook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01 · 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File Types and Portability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.twb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XML workbook definition; external data remains separate.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.twbx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Packaged workbook with local data and assets.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.hyper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Tableau extract optimised for analytical queries.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.tds / .tdsx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Reusable data-source metadata, optionally packaged.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01 · 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Folders and Hierarchies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FOLDERS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59689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Folders organise the authoring experience.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They do not change the source data or aggregation.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420624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names that reflect business domains.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HIERARCHIES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59689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Hierarchies define an ordered drill path.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Typical paths: Region &gt; District &gt; Outlet.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20624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Every level should answer a meaningful next question.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LAB 1 · LO1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Connect and Profile Service Operations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1316736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55648"/>
            <a:ext cx="1316736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95728"/>
            <a:ext cx="10661904" cy="10789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customer-experience manager needs a first reliable view of service tickets across channels and regions.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3675887"/>
            <a:ext cx="10661904" cy="1947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3913632"/>
            <a:ext cx="18288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4297680"/>
            <a:ext cx="9930384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connected Tableau workbook with validated field roles and a service-volume view by region and channel.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5148072"/>
            <a:ext cx="9930384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TOOLS  </a:t>
            </a:r>
            <a:r>
              <a:rPr sz="1100" b="0">
                <a:solidFill>
                  <a:srgbClr val="5B6372"/>
                </a:solidFill>
                <a:latin typeface="Arial"/>
              </a:rPr>
              <a:t>Tableau Desktop/Public · Data Source page · Dimensions/Measures · Show 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993392"/>
            <a:ext cx="10661904" cy="214884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13432"/>
            <a:ext cx="10003536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07792"/>
            <a:ext cx="9930384" cy="9326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workbook connects without broken fields; dates and numbers have correct roles; the view reconciles to the Excel record 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462272"/>
            <a:ext cx="3401568" cy="8229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Packaged Tableau workbook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Required views and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4462272"/>
            <a:ext cx="3401568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5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5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Screenshot with filter state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Excel reconciliation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2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2" y="4462272"/>
            <a:ext cx="3401568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8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Observation and meaning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Limitation and next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LAB 2 · LO1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Hierarchies and Drill Paths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1316736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55648"/>
            <a:ext cx="1316736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95728"/>
            <a:ext cx="10661904" cy="10789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Retail leaders need to move from national performance to region, outlet and department detail without losing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3675887"/>
            <a:ext cx="10661904" cy="1947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3913632"/>
            <a:ext cx="18288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4297680"/>
            <a:ext cx="9930384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geographic and product hierarchy with a drillable sales-and-margin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5148072"/>
            <a:ext cx="9930384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TOOLS  </a:t>
            </a:r>
            <a:r>
              <a:rPr sz="1100" b="0">
                <a:solidFill>
                  <a:srgbClr val="5B6372"/>
                </a:solidFill>
                <a:latin typeface="Arial"/>
              </a:rPr>
              <a:t>Folders · Hierarchies · Drill up/down · aliases · default properties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993392"/>
            <a:ext cx="10661904" cy="214884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13432"/>
            <a:ext cx="10003536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07792"/>
            <a:ext cx="9930384" cy="9326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Both hierarchies drill in the correct order and totals remain stable at every displayed level.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462272"/>
            <a:ext cx="3401568" cy="8229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Packaged Tableau workbook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Required views and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4462272"/>
            <a:ext cx="3401568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5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5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Screenshot with filter state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Excel reconciliation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2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2" y="4462272"/>
            <a:ext cx="3401568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8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Observation and meaning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Limitation and next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Basic Tableau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Visual analysis cycle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K1 · A1 · LO1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packaged Tableau workbook plus reconciliation and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this layer to the next decision requirement.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075688"/>
            <a:ext cx="118872" cy="208483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2029968"/>
            <a:ext cx="86410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514600"/>
            <a:ext cx="9738360" cy="12618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Data Sources and Visualisation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3986784"/>
            <a:ext cx="9646920" cy="6766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Connections · extracts · relationships · joins · blending · chart 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502920"/>
            <a:ext cx="210312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ALIGNMENT K3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Data Sources and Visualisation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18236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Connection strategy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live or extract by freshness, performance and governance needs.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1823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Relationships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Preserve each table's grain and combine data at analysis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4"/>
            <a:ext cx="82296" cy="1328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371246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Joins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Physically combine rows; cardinality and unmatched keys determine the result.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285744"/>
            <a:ext cx="82296" cy="1328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71246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Visual encoding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Position and length usually support more accurate comparisons than area or colour.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15840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" y="52425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Chart purpose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bars for comparison, lines for time, scatterplots for relationship and treemaps for hierarchy.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815840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4808" y="524256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Aggregation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SUM, AVG, COUNT and distinct count answer different business questions.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02 · K3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Live Connection or Extract?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LIVE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59689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Queries the source at interaction time.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Best when current values and central controls matter.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420624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Performance depends on the source and network.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EXTRACT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59689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Stores a local analytical snapshot.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Supports fast interaction and offline work.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20624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Requires a refresh policy and timestamp.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02 · K3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Connection Readiness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2689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2689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Confirm business grain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5651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1683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1683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6276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6276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0555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Profile keys and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9238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5270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5270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4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4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4142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Choose live or extract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2825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8857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8857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53451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3451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7729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Model tables safely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6412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2444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2444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37038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37038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1316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Reconcile totals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02 · K3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Three Ways to Combine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Relationships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Logical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Preserve table grain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Joins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Physical row combination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Cardinality changes rows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2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2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2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Blending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0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Separate data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0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Aggregate secondary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TOPIC 02 · K3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Join Types and Their Consequences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Inner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Keeps only matched rows.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Left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Keeps every left row plus matching right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Right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Keeps every right row plus matching left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Full outer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Keeps matched and unmatched rows from both sides.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02 · K3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Relationships versus Joins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LOGICAL MODEL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59689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Relationships are resolved in the context of the view.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They reduce accidental duplication across different grains.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420624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defined cardinality and referential integrity when known.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PHYSICAL MODEL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59689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Joins create one physical row set before analysis.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One-to-many matches can duplicate measures.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20624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joins when row-level combination is truly required.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TOPIC 02 · K3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Ranked Comparison: Sales by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68096" y="1847088"/>
          <a:ext cx="6784848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45552" y="1847088"/>
            <a:ext cx="3584448" cy="4023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5552" y="1847088"/>
            <a:ext cx="3584448" cy="1005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157984"/>
            <a:ext cx="2999232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 THE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61488"/>
            <a:ext cx="2926080" cy="1188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Singapore leads the sample, but regional budget allocation should also consider margin and growth.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315968"/>
            <a:ext cx="2907792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Editable chart: change the embedded data, labels, axes and colours directly in PowerPoint.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TOPIC 02 · K3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Trend: Quarterly Sales by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68096" y="1847088"/>
          <a:ext cx="6784848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45552" y="1847088"/>
            <a:ext cx="3584448" cy="4023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5552" y="1847088"/>
            <a:ext cx="3584448" cy="1005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157984"/>
            <a:ext cx="2999232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 THE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61488"/>
            <a:ext cx="2926080" cy="1188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All categories rise in Q4; Office contributes the largest absolute increase.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315968"/>
            <a:ext cx="2907792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Editable chart: change the embedded data, labels, axes and colours directly in PowerPoint.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02 · K3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Relationship: Sales and Profit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Marks generally rise from lower-left to upper-right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Higher sales are associated with higher profit in the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Exception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One high-sales outlet has weaker 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Use Outlet on Detail to identify 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2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2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2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Caution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0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Association does not establish causality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0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Inspect discount, mix, cost and data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TOPIC 02 · K3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Choose a Chart from the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18236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Comparison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Bar or dot plot.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1823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Time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Line or area chart with an ordered axis.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4"/>
            <a:ext cx="82296" cy="1328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371246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Relationship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Scatterplot with a meaningful level of detail.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285744"/>
            <a:ext cx="82296" cy="1328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71246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Distribution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Histogram or box plot.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15840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" y="52425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Composition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Stacked bar or treemap when part-to-whole matters.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815840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4808" y="524256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Location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Map only when geography changes the decision.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02 · K3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Portfolio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Treemap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Hierarchical part-to-whole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Area is less precise than length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Heatmap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Pattern across two categorical axes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Colour scale needs clear meaning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2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2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2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Box plot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0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Median, spread and unusual values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0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Good for group distributions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02 · K3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Aggregation Changes the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CALCULATION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59689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SUM answers total contribution.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AVG answers the typical row at the current grain.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420624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COUNT counts records; COUNTD counts unique entities.</a:t>
            </a:r>
          </a:p>
        </p:txBody>
      </p:sp>
      <p:sp>
        <p:nvSpPr>
          <p:cNvPr id="19" name="Oval 18"/>
          <p:cNvSpPr/>
          <p:nvPr/>
        </p:nvSpPr>
        <p:spPr>
          <a:xfrm>
            <a:off x="1024128" y="501091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010912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974336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ATTR signals whether a single value is present.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59689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the denominator behind every average.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 not average percentages when a weighted ratio is needed.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20624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7728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Display the level of detail in titles or captions.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501091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010912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4974336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Reconcile to a known control total.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828800"/>
            <a:ext cx="1014984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K3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304288"/>
            <a:ext cx="10195560" cy="16276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A view is only as trustworthy as its grain.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24528"/>
            <a:ext cx="9985248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Before formatting a chart, prove what one row means and whether combining tables changes the population.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LAB 3 · LO2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Relate Orders, Products and Returns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1316736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55648"/>
            <a:ext cx="1316736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95728"/>
            <a:ext cx="10661904" cy="10789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Meridian Retail SG stores orders, product master data, outlets and returns at different grains.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3675887"/>
            <a:ext cx="10661904" cy="1947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3913632"/>
            <a:ext cx="18288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4297680"/>
            <a:ext cx="9930384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governed multi-table data model plus an extract and reconciliation sheet.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5148072"/>
            <a:ext cx="9930384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TOOLS  </a:t>
            </a:r>
            <a:r>
              <a:rPr sz="1100" b="0">
                <a:solidFill>
                  <a:srgbClr val="5B6372"/>
                </a:solidFill>
                <a:latin typeface="Arial"/>
              </a:rPr>
              <a:t>Relationships · joins · cardinality · referential integrity · 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993392"/>
            <a:ext cx="10661904" cy="214884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13432"/>
            <a:ext cx="10003536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07792"/>
            <a:ext cx="9930384" cy="9326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Order totals are not duplicated, unmatched keys are visible, and the extract refreshes from the supplied workbook.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462272"/>
            <a:ext cx="3401568" cy="8229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Packaged Tableau workbook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Required views and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4462272"/>
            <a:ext cx="3401568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5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5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Screenshot with filter state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Excel reconciliation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2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2" y="4462272"/>
            <a:ext cx="3401568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8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Observation and meaning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Limitation and next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LAB 4 · LO2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Choose and Build Decision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1316736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55648"/>
            <a:ext cx="1316736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95728"/>
            <a:ext cx="10661904" cy="10789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commercial director needs comparison, trend, relationship and portfolio views for one monthly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3675887"/>
            <a:ext cx="10661904" cy="1947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3913632"/>
            <a:ext cx="18288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4297680"/>
            <a:ext cx="9930384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Four fit-for-purpose worksheets: ranked bar, quarterly line, profit-sales scatterplot and category treemap.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5148072"/>
            <a:ext cx="9930384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TOOLS  </a:t>
            </a:r>
            <a:r>
              <a:rPr sz="1100" b="0">
                <a:solidFill>
                  <a:srgbClr val="5B6372"/>
                </a:solidFill>
                <a:latin typeface="Arial"/>
              </a:rPr>
              <a:t>Bar · line · scatterplot · treemap · labels · tooltips · sort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993392"/>
            <a:ext cx="10661904" cy="214884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13432"/>
            <a:ext cx="10003536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07792"/>
            <a:ext cx="9930384" cy="9326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chart answers its stated question, uses truthful axes, and includes enough context to interpret the marks.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462272"/>
            <a:ext cx="3401568" cy="8229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Packaged Tableau workbook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Required views and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4462272"/>
            <a:ext cx="3401568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5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5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Screenshot with filter state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Excel reconciliation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2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2" y="4462272"/>
            <a:ext cx="3401568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8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Observation and meaning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Limitation and next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Data Sources and Visualisation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Connection strategy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K3 · A2 · LO2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packaged Tableau workbook plus reconciliation and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this layer to the next decision requirement.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075688"/>
            <a:ext cx="118872" cy="208483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2029968"/>
            <a:ext cx="86410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514600"/>
            <a:ext cx="9738360" cy="12618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Data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3986784"/>
            <a:ext cx="9646920" cy="6766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Data Interpreter · split · merge · pivot · filters · groups · 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502920"/>
            <a:ext cx="210312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ALIGNMENT K4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Data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18236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Analysis-ready structure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row is one observation; one column is one variable; one table is one grain.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1823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Data Interpreter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Removes presentation clutter from spreadsheets while preserving the underlying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4"/>
            <a:ext cx="82296" cy="1328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371246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Split and pivot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compound fields and reshape wide columns into analysis-ready rows.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285744"/>
            <a:ext cx="82296" cy="1328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71246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Filter order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Extract, source, context, dimension and measure filters do not behave identically.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15840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" y="52425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Groups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Combine members into a stable business category.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815840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4808" y="524256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a dynamic in/out population that can drive comparisons and actions.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03 · K4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From Presentation Sheet to Analytical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2689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2689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Detect the real header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5651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1683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1683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6276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6276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0555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Remove presentation clutter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9238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5270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5270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4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4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4142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Separate compound fields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2825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8857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8857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53451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3451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7729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Pivot repeated columns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6412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2444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2444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37038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37038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1316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the long 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03 · K4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Data Interpreter Can and Cannot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59689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Detects headers, notes, blank rows and repeated formatting.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Helps expose a clean table from a human-formatted sheet.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420624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Shows what was removed for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JUDGEMENT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59689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cannot decide the business grain.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does not fix ambiguous definitions.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20624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clean-looking result still needs reconciliation.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TOPIC 03 · K4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Split, Merge and Aliases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Split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Turn Region|District into separate fields.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Custom split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delimiter and occurrence deliberately.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Merge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Combine fields only when the new meaning is clear.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Aliases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Change display labels without changing source values.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03 · K4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Wide versus Long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WIDE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59689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One row may contain Jan, Feb, Mar columns.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Easy for manual reading; awkward for time analysis.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420624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New months require new fields.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LONG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59689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Month becomes a field and value becomes a measure.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Works naturally with time axes and filters.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20624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New months append new rows.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03 · K4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Filter Order of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2689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2689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Extract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5651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1683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1683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6276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6276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0555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Data source 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9238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5270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5270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4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4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4142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Context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2825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8857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8857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53451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3451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7729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Dimension filter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6412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2444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2444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37038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37038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1316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Measure / table-calc filter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TOPIC 03 · K4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Dimension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General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 explicit members.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Wildcard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Match text patterns.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Condition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members that meet a rule.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 leading members by an aggregated measure.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TOPIC 03 · K4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Measure and Date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Range of values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Filter aggregated numeric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 least / at most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a clear materiality threshold.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Relative date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Rolling periods that update with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Range of dates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Fixed window for controlled comparisons.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03 · K4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Context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59689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a temporary population for dependent filters.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Useful when Top N should apply within a selected region.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420624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Can improve or reduce performance depending on design.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RISK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59689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 not use context as a visual-formatting trick.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Explain the population behind the result.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20624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whether changing context changes set membership.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03 · K4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Groups, Sets and Bins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Stable business consolidation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Manual or data-driven membership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Dynamic IN / OUT population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Supports comparison and 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2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2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2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Bin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0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Intervals for a continuous 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0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Sensitive to bin width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TOPIC 03 · K4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Set Design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Top 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Leading customers or products within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Condition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Members above a measure threshold.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Combined set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Intersection or union of two populations.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action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Let dashboard interaction change membership.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03 · K4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Transformation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RECONCILE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59689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Record count before and after.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Key completeness and uniqueness.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420624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Total spend, sales or units.</a:t>
            </a:r>
          </a:p>
        </p:txBody>
      </p:sp>
      <p:sp>
        <p:nvSpPr>
          <p:cNvPr id="19" name="Oval 18"/>
          <p:cNvSpPr/>
          <p:nvPr/>
        </p:nvSpPr>
        <p:spPr>
          <a:xfrm>
            <a:off x="1024128" y="501091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010912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974336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Explicit list of excluded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GOVERN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59689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Retain the raw source.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Document every transformation.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20624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7728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Separate correction from assumption.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501091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010912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4974336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Make limitations visible to the audience.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828800"/>
            <a:ext cx="1014984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K4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304288"/>
            <a:ext cx="10195560" cy="16276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Cleaning is a chain of evidence, not a cosmetic exercise.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24528"/>
            <a:ext cx="9985248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Every transformation should preserve meaning, expose exceptions and be reproducible on refresh.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LAB 5 · LO3 · K4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Clean, Split and Pivot Campaign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1316736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55648"/>
            <a:ext cx="1316736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95728"/>
            <a:ext cx="10661904" cy="10789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campaign export contains banner rows, compound location codes and monthly measures spread across columns.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3675887"/>
            <a:ext cx="10661904" cy="1947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3913632"/>
            <a:ext cx="18288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4297680"/>
            <a:ext cx="9930384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 analysis-ready long table with clean location fields and documented transformation checks.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5148072"/>
            <a:ext cx="9930384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TOOLS  </a:t>
            </a:r>
            <a:r>
              <a:rPr sz="1100" b="0">
                <a:solidFill>
                  <a:srgbClr val="5B6372"/>
                </a:solidFill>
                <a:latin typeface="Arial"/>
              </a:rPr>
              <a:t>Data Interpreter · custom split · merge · pivot · aliases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993392"/>
            <a:ext cx="10661904" cy="214884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13432"/>
            <a:ext cx="10003536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07792"/>
            <a:ext cx="9930384" cy="9326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transformed data has one row per campaign-month, clean location fields, no blank campaign key and reconciled spend totals.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462272"/>
            <a:ext cx="3401568" cy="8229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Packaged Tableau workbook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Required views and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4462272"/>
            <a:ext cx="3401568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5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5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Screenshot with filter state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Excel reconciliation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2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2" y="4462272"/>
            <a:ext cx="3401568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8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Observation and meaning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Limitation and next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LAB 6 · LO3 · K4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Filter, Group and Set Customer Segments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1316736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55648"/>
            <a:ext cx="1316736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95728"/>
            <a:ext cx="10661904" cy="10789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loyalty team wants a stable business grouping plus a dynamic high-value customer cohort.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3675887"/>
            <a:ext cx="10661904" cy="1947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3913632"/>
            <a:ext cx="18288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4297680"/>
            <a:ext cx="9930384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segment view using context filters, grouped categories and a top-customer 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5148072"/>
            <a:ext cx="9930384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TOOLS  </a:t>
            </a:r>
            <a:r>
              <a:rPr sz="1100" b="0">
                <a:solidFill>
                  <a:srgbClr val="5B6372"/>
                </a:solidFill>
                <a:latin typeface="Arial"/>
              </a:rPr>
              <a:t>Dimension/measure/date filters · context filter · groups · 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6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993392"/>
            <a:ext cx="10661904" cy="214884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13432"/>
            <a:ext cx="10003536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07792"/>
            <a:ext cx="9930384" cy="9326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high-value set responds to the selected period and the business grouping is explainable from the source fields.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462272"/>
            <a:ext cx="3401568" cy="8229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Packaged Tableau workbook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Required views and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4462272"/>
            <a:ext cx="3401568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5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5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Screenshot with filter state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Excel reconciliation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2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2" y="4462272"/>
            <a:ext cx="3401568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8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Observation and meaning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Limitation and next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Data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Analysis-ready structure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K4 · A3 · LO3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packaged Tableau workbook plus reconciliation and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this layer to the next decision requirement.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267712"/>
            <a:ext cx="12191695" cy="10241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29584"/>
            <a:ext cx="12191695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45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075688"/>
            <a:ext cx="118872" cy="208483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2029968"/>
            <a:ext cx="86410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514600"/>
            <a:ext cx="9738360" cy="12618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Dashboards and Stories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3986784"/>
            <a:ext cx="9646920" cy="6766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KPI scorecards · layout · actions · device design · story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502920"/>
            <a:ext cx="210312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 K5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Dashboards and Stories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18236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Four Ws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Who is the audience, what decision, when is it used and where is action taken?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1823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Dashboard hierarchy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Lead with decision KPIs, then trends, drivers and diagnostic detail.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4"/>
            <a:ext cx="82296" cy="1328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371246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Layout containers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Tiled containers create predictable alignment; floating objects need deliberate control.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285744"/>
            <a:ext cx="82296" cy="1328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71246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Filter, highlight, URL, navigation, parameter and set actions create purposeful interaction.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15840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" y="52425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Benchmark context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Targets, prior periods and peer ranges turn values into performance signals.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815840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4808" y="524256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Stories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sequence of story points communicates change, evidence and decision.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TOPIC 04 · K5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Four Ws of a Good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Who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Audience, authority and data literacy.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What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Decision, question and required 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When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Refresh cadence and time pressure.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Where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Presentation, desktop or mobile context.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04 · K5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Dashboard Information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2689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2689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Decision KPIs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5651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1683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1683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6276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6276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0555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Trend and benchmark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9238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5270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5270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4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4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4142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Drivers and segments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2825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8857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8857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53451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3451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7729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Diagnostic detail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6412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2444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2444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37038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37038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1316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Action and ownership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04 · K5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KPI Value versus KPI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VALUE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59689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Value alone states only the current magnitude.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Large type improves scanning.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420624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Consistent units and rounding reduce cognitive load.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59689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Target, prior period and peer benchmark create meaning.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Direction should be labelled, not only coloured.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20624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Variance needs an owner and threshold.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04 · K5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Layout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Predictable 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Responsive container 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Floating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Precise placement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Higher overlap and maintenance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2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2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2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Device layout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0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Adapt hierarchy to the screen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0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Do not merely shrink desktop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TOPIC 04 · K5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Dashboard Objects with a Job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18236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Horizontal / vertical container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Structure and alignment.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1823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Text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Context, definitions and 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4"/>
            <a:ext cx="82296" cy="1328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371246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Image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Brand or orientation, used sparingly.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285744"/>
            <a:ext cx="82296" cy="1328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71246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Blank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Intentional spacing, not decoration.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15840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" y="52425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Web page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Live reference with security and availability risks.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815840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4808" y="524256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Navigation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Move between summary and detail.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04 · K5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Action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2689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2689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User 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5651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1683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1683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6276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6276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0555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Source sheet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9238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5270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5270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4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4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4142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Trigger 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2825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8857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8857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53451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3451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7729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Target sheet / URL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6412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2444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2444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37038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37038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1316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Reset and feedback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04 · K5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Core Dashboard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Narrow target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Show selected scope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Highlight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Preserve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Emphasise related marks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2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2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2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URL / navigation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0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Open supporting detail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0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Validate destination and privacy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TOPIC 04 · K5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Advanced Interaction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Parameter action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Write a selected value into a parameter.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action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Change set membership from marks.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Change parameter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Switch metric, threshold or view logic.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Go to sheet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Move from overview to diagnostic detail.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04 · K5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Dashboard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DESIGN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59689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Limit marks and expensive calculations.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extracts and filters where appropriate.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420624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Reduce redundant worksheets and high-cardinality quick filters.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TEST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59689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Measure load and interaction time.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Performance is part of usability.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20624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Optimise only after validating the business question.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04 · K5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Story Point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2689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2689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5651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1683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1683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6276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6276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0555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9238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5270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5270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4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4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4142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2825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8857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8857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53451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3451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7729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Driver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6412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2444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2444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37038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37038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1316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Decision and next 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TOPIC 04 · K5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Dashboard QA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18236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Accuracy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Values reconcile to source controls.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1823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Clarity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Hierarchy is readable at intended size.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4"/>
            <a:ext cx="82296" cy="1328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371246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Interaction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Actions work and reset predictably.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285744"/>
            <a:ext cx="82296" cy="1328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71246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Date, unit, filters and definitions are visible.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15840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" y="52425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Accessibility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Colour is not the only cue.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815840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4808" y="524256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Actionability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Owner, threshold and next step are explicit.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828800"/>
            <a:ext cx="1014984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K5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304288"/>
            <a:ext cx="10195560" cy="16276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Interactivity should reduce uncertainty, not create a puzzle.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24528"/>
            <a:ext cx="9985248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Every control needs a clear purpose, visible state and predictable reset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LAB 7 · LO4 · K5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an Executive Performance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1316736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55648"/>
            <a:ext cx="1316736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95728"/>
            <a:ext cx="10661904" cy="10789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Executives need one screen to monitor sales, margin, returns and target attainment across outlets.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3675887"/>
            <a:ext cx="10661904" cy="1947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3913632"/>
            <a:ext cx="18288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4297680"/>
            <a:ext cx="9930384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16:9 scorecard dashboard with KPI tiles, trend, ranked outlets, benchmark context and visible filter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5148072"/>
            <a:ext cx="9930384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TOOLS  </a:t>
            </a:r>
            <a:r>
              <a:rPr sz="1100" b="0">
                <a:solidFill>
                  <a:srgbClr val="5B6372"/>
                </a:solidFill>
                <a:latin typeface="Arial"/>
              </a:rPr>
              <a:t>Dashboards · layout containers · KPI sheets · device preview · captions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7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993392"/>
            <a:ext cx="10661904" cy="214884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13432"/>
            <a:ext cx="10003536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07792"/>
            <a:ext cx="9930384" cy="9326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dashboard is readable at presentation size, totals reconcile, active filters are visible and every element supports a named 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462272"/>
            <a:ext cx="3401568" cy="8229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Packaged Tableau workbook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Required views and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4462272"/>
            <a:ext cx="3401568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5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5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Screenshot with filter state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Excel reconciliation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2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2" y="4462272"/>
            <a:ext cx="3401568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8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Observation and meaning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Limitation and next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LAB 8 · LO4 · K5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Add Actions and Tell a Performance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1316736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55648"/>
            <a:ext cx="1316736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95728"/>
            <a:ext cx="10661904" cy="10789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Regional managers need to explore a dashboard and then present a concise evidence sequence to leadership.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3675887"/>
            <a:ext cx="10661904" cy="1947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3913632"/>
            <a:ext cx="18288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4297680"/>
            <a:ext cx="9930384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dashboard with filter/highlight/navigation actions and a five-point performance story.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5148072"/>
            <a:ext cx="9930384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TOOLS  </a:t>
            </a:r>
            <a:r>
              <a:rPr sz="1100" b="0">
                <a:solidFill>
                  <a:srgbClr val="5B6372"/>
                </a:solidFill>
                <a:latin typeface="Arial"/>
              </a:rPr>
              <a:t>Filter action · highlight action · navigation · URL action · story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8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993392"/>
            <a:ext cx="10661904" cy="214884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13432"/>
            <a:ext cx="10003536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07792"/>
            <a:ext cx="9930384" cy="9326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Actions work from the intended source sheets, preserve context and the story ends with an evidence-backed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462272"/>
            <a:ext cx="3401568" cy="8229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Packaged Tableau workbook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Required views and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4462272"/>
            <a:ext cx="3401568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5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5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Screenshot with filter state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Excel reconciliation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2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2" y="4462272"/>
            <a:ext cx="3401568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8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Observation and meaning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Limitation and next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Dashboards and Stories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Four Ws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K5 · A4 · LO4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packaged Tableau workbook plus reconciliation and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this layer to the next decision requirement.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med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075688"/>
            <a:ext cx="118872" cy="208483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2029968"/>
            <a:ext cx="86410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514600"/>
            <a:ext cx="9738360" cy="12618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Calculations and 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3986784"/>
            <a:ext cx="9646920" cy="6766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Calculated fields · table calculations · logic · parameters · dynamic 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502920"/>
            <a:ext cx="210312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med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ALIGNMENT K2 · A5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Calculations and 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18236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Row-level calculation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Evaluated for each record before aggregation.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1823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Aggregate calculation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Combines measures at the view's level of detail.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4"/>
            <a:ext cx="82296" cy="1328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371246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Table calculation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Computed over the marks already returned to the visualisation.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285744"/>
            <a:ext cx="82296" cy="1328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71246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Logical design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IF, IIF and CASE translate business rules into transparent classifications.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15840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" y="52425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Parameters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Single values controlled by the user; pair them with calculations or actions to change behaviour.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815840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4808" y="524256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Dynamic view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parameter can switch metrics, thresholds, reference values or dimensions.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05 · K2 · A5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Three Calculation Levels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Row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Evaluated for each source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Examples: Sales -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Aggregate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Evaluated after grouping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Examples: SUM(Profit)/SUM(Sales)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2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2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2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Table calculation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0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Evaluated over marks in the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0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Examples: percent of total, running sum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05 · K2 · A5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Aggregate or Non-Aggregate?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MECHANICS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59689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row-level field can be aggregated later.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Mixing aggregate and non-aggregate expressions causes an error.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420624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view grain determines the final aggregation.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59689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Decide whether the business rule applies per record or per displayed group.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consistent aggregation inside the expression.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20624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Validate with a known small example.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05 · K2 · A5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 Function Families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18236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Number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ROUND, ABS, CEILING and mathematical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1823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LEFT, SPLIT, CONTAINS and case functions.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4"/>
            <a:ext cx="82296" cy="1328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371246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DATETRUNC, DATEPART, DATEDIFF and TODAY.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285744"/>
            <a:ext cx="82296" cy="1328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71246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Logical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IF, IIF, CASE, AND and 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15840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" y="52425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Aggregate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SUM, AVG, COUNTD, MIN and MAX.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815840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4808" y="524256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Table calculation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LOOKUP, WINDOW_SUM, RANK and running functions.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05 · K2 · A5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IF, IIF and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SYNTAX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59689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IF supports multiple conditions and branches.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IIF is concise for one true/false decision.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420624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 compares one expression to listed values.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59689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thresholds in parameters or governed fields.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Always include an explicit else path.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20624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blanks, zero and boundary cases.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med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05 · K2 · A5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Table Calculation Addressing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2689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2689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Partition the population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5651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1683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1683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6276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6276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0555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Choose addressing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9238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5270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5270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4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4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4142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Compute over the marks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2825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8857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8857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53451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3451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7729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Check sort order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6412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2444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2444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37038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37038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1316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 filter interaction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05 · K2 · A5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Parameter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18236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Business-facing description.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1823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Data type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Integer, real, string, Boolean, date or date-time.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4"/>
            <a:ext cx="82296" cy="1328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371246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Allowable values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All, list or range.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285744"/>
            <a:ext cx="82296" cy="1328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71246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Current value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Single state used by calculations or filters.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15840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" y="52425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Visible interface for user input.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815840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4808" y="524256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Dashboard marks can update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med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05 · K2 · A5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Threshold Parameter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PATTERN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59689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User chooses a materiality threshold.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Calculation compares aggregated performance to the parameter.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420624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Filter retains the TRUE result.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GOVERNANCE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59689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Show the current threshold in title or caption.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Choose a defensible default and range.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20624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Avoid implying the threshold is data-driven when it is policy.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med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05 · K2 · A5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Dynamic Metric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Parameter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Sales, Profit, Margin or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One selected value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CASE calculation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Returns the matching 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Uses consistent aggregation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2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2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2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Dynamic labels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0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Title and tooltip state the metric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0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Formatting matches unit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med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05 · K2 · A5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Useful Table Calculations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Percent of total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Contribution within the partition.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Running total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Cumulative performance over an ordered dimension.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Difference from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Change against prior mark or benchmark.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Rank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Relative position under the current filter state.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05 · K2 · A5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Reference Lines and 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CONTEXT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59689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Reference lines provide average, median, constant or computed context.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Parameters can supply a user-controlled benchmark.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420624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Bands express an acceptable range.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CAUTION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59689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Label what the reference means.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Avoid treating an average as a target.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20624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the scale and filter state visible.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05 · K2 · A5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18236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Small sample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Manually verify several records or marks.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1823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total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Reconcile numerator, denominator and aggregate.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4"/>
            <a:ext cx="82296" cy="1328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371246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Edge cases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Test zero, null, negative and threshold boundaries.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285744"/>
            <a:ext cx="82296" cy="1328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71246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Filter state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whether calculation order changes the result.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15840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" y="52425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Formatting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Match percentages, currency and units.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815840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4808" y="524256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Explanation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reviewer can restate the rule in plain language.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med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828800"/>
            <a:ext cx="1014984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K2 · A5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304288"/>
            <a:ext cx="10195560" cy="16276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A dynamic view still needs a stable definition.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24528"/>
            <a:ext cx="9985248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Parameters make analysis interactive; they do not replace governed metric logic and visible assumptions.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LAB 9 · LO5 · K2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Create Dynamic Profitability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1316736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55648"/>
            <a:ext cx="1316736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95728"/>
            <a:ext cx="10661904" cy="10789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Finance wants to switch between sales, profit and margin, and test which products exceed a user-defined threshold.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3675887"/>
            <a:ext cx="10661904" cy="1947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3913632"/>
            <a:ext cx="18288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4297680"/>
            <a:ext cx="9930384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dynamic metric view with calculated fields, parameter controls, table calculations and a threshold filter.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5148072"/>
            <a:ext cx="9930384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TOOLS  </a:t>
            </a:r>
            <a:r>
              <a:rPr sz="1100" b="0">
                <a:solidFill>
                  <a:srgbClr val="5B6372"/>
                </a:solidFill>
                <a:latin typeface="Arial"/>
              </a:rPr>
              <a:t>Calculated fields · IF/CASE · table calculations · parameters · dynamic titles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9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993392"/>
            <a:ext cx="10661904" cy="214884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13432"/>
            <a:ext cx="10003536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07792"/>
            <a:ext cx="9930384" cy="9326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Metric and threshold controls change the view correctly, formulas reconcile to Excel controls and invalid denominator cases are handled.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462272"/>
            <a:ext cx="3401568" cy="8229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Packaged Tableau workbook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Required views and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4462272"/>
            <a:ext cx="3401568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5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5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Screenshot with filter state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Excel reconciliation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2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2" y="4462272"/>
            <a:ext cx="3401568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8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Observation and meaning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Limitation and next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Calculations and 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Row-level calculation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K2 · A5 · LO5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packaged Tableau workbook plus reconciliation and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this layer to the next decision requirement.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med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075688"/>
            <a:ext cx="118872" cy="208483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2029968"/>
            <a:ext cx="86410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514600"/>
            <a:ext cx="9738360" cy="12618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Analytics and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3986784"/>
            <a:ext cx="9646920" cy="6766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Reference lines · trends · forecasts · clusters · limitations · data stories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502920"/>
            <a:ext cx="210312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med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ALIGNMENT K1 · A6 · LO6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Analytics and Communication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18236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Reference context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Average, median, target and distribution bands help the audience judge performance.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1823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Trend models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fitted line summarises association; it does not establish causality.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4"/>
            <a:ext cx="82296" cy="1328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371246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Forecast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Tableau extends a time series under model assumptions and expresses uncertainty.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285744"/>
            <a:ext cx="82296" cy="1328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71246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Clustering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Groups similar marks from selected features; business labels require interpretation.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15840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" y="52425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Limitations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Data coverage, quality, granularity, bias and model assumptions bound the conclusion.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815840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4808" y="524256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Responsible narrative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observation, interpretation, recommendation and uncertainty.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med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TOPIC 06 · K1 · A6 · LO6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Analytics Pane: Context and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18236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Reference line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Constant, average, median or computed benchmark.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1823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Reference band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Range between values or distribution limits.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4"/>
            <a:ext cx="82296" cy="1328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371246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Trend line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Fitted relationship across marks.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285744"/>
            <a:ext cx="82296" cy="1328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71246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Forecast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Extension of a time series with uncertainty.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15840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" y="52425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Cluster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Algorithmic grouping from selected measures.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815840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4808" y="524256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Box plot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Distribution summary and unusual marks.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med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06 · K1 · A6 · LO6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Average Line versus Target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OBSERVED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59689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Average summarises the observed population.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moves when filters or the population change.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420624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Useful for relative comparison.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59689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Target represents policy, plan or benchmark.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should have an owner, period and source.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20624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 not label an average as expected performance.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med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TOPIC 06 · K1 · A6 · LO6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Observed Trend and Forecast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68096" y="1847088"/>
          <a:ext cx="6784848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45552" y="1847088"/>
            <a:ext cx="3584448" cy="4023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5552" y="1847088"/>
            <a:ext cx="3584448" cy="1005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157984"/>
            <a:ext cx="2999232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 THE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61488"/>
            <a:ext cx="2926080" cy="1188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forecast extends the recent pattern, but the decision should use its prediction interval and monitor error after each refresh.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315968"/>
            <a:ext cx="2907792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Editable chart: change the embedded data, labels, axes and colours directly in PowerPoint.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med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06 · K1 · A6 · LO6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Trend 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59689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Describe direction and fitted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 form and level of detail affect the line.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420624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R-squared summarises fit in the displayed sample.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LIMIT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59689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Association is not causation.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Outliers and clusters can dominate the fit.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20624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Inspect residual patterns and domain plausibility.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med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TOPIC 06 · K1 · A6 · LO6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Forecast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18236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Time grain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Consistent intervals with enough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1823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Horizon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Short enough for assumptions to remain plausible.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4"/>
            <a:ext cx="82296" cy="1328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371246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Seasonality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Recurring pattern supported by complete cycles.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285744"/>
            <a:ext cx="82296" cy="1328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71246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Prediction interval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Range of uncertainty, not decorative shading.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15840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" y="52425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Missing values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Treatment can change the model.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815840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4808" y="524256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Monitoring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forecast with actuals and refresh.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med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06 · K1 · A6 · LO6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Clustering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Select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Decision-relevant measures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Comparable scaling and meaning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Inspect profiles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Cluster centres and membership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Outliers and stability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2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2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2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Name cautiously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0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Business labels after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0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Do not stereotype individuals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06 · K1 · A6 · LO6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Interpretation Ladder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2689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2689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5651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1683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1683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6276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6276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0555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Pattern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9238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5270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5270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4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4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4142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Possible explanation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2825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8857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8857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53451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3451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7729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Limitation / alternative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6412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2444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2444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37038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37038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1316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Action and monitoring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TOPIC 06 · K1 · A6 · LO6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Common Data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18236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Coverage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Period, channel or population may be incomplete.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1823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Quality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Missing, duplicated or inconsistent values.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4"/>
            <a:ext cx="82296" cy="1328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371246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Granularity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Aggregation can conceal within-group variation.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285744"/>
            <a:ext cx="82296" cy="1328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71246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Bias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Selection or measurement process shapes the result.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15840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" y="52425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Drift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Historical relationships may change.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815840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4808" y="524256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Confounding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third factor may explain an apparent relationship.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06 · K1 · A6 · LO6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Correlation and Causation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CAN SAY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59689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Correlation describes co-movement.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Trend lines estimate association under assumptions.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420624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Useful for exploration and prediction.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451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CANNOT CLAIM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59689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96896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560320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Causation needs design and alternative explanations.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364992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Reverse causality and confounding remain possible.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20624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3474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169664"/>
            <a:ext cx="4114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cautious language in recommendations.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med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06 · K1 · A6 · LO6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Responsible Data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What the visual directly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Population, period and unit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Most plausible business meaning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Alternative explanations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2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2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2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0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Owner, trigger and next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0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Uncertainty and guardrail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med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TOPIC 06 · K1 · A6 · LO6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Analytical Review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18236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Right question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Does the view address a real decision?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1823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Right population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 filters and exclusions match the claim?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4"/>
            <a:ext cx="82296" cy="1328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371246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Right method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Is the visual/model suitable for the data?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285744"/>
            <a:ext cx="82296" cy="1328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71246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Right context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Are benchmarks, units and time visible?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15840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" y="52425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Right caveat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Are material limitations explicit?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815840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4808" y="524256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Right action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Can someone act and monitor the outcome?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med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828800"/>
            <a:ext cx="1014984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06 · K1 · A6 · LO6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304288"/>
            <a:ext cx="10195560" cy="16276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The strongest visual is honest about what it cannot prove.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24528"/>
            <a:ext cx="9985248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Communicate the signal, the uncertainty and the next evidence needed for a better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med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LAB 10 · LO6 · K1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Analyse Trends, Forecasts and Clusters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1316736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55648"/>
            <a:ext cx="1316736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95728"/>
            <a:ext cx="10661904" cy="10789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strategy team needs a cautious outlook for outlet demand and a segmentation of store operating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3675887"/>
            <a:ext cx="10661904" cy="1947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3913632"/>
            <a:ext cx="18288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4297680"/>
            <a:ext cx="9930384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 analytics workbook with reference context, trend, forecast, clustering and a limitations-led decision narrative.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5148072"/>
            <a:ext cx="9930384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TOOLS  </a:t>
            </a:r>
            <a:r>
              <a:rPr sz="1100" b="0">
                <a:solidFill>
                  <a:srgbClr val="5B6372"/>
                </a:solidFill>
                <a:latin typeface="Arial"/>
              </a:rPr>
              <a:t>Reference lines · trend lines · forecast · clustering · describe trend/model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med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10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993392"/>
            <a:ext cx="10661904" cy="214884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13432"/>
            <a:ext cx="10003536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07792"/>
            <a:ext cx="9930384" cy="9326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workbook states assumptions and limitations, distinguishes association from causation, and reports at least one action with a monitoring trigger.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462272"/>
            <a:ext cx="3401568" cy="8229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Packaged Tableau workbook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Required views and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4462272"/>
            <a:ext cx="3401568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5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5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Screenshot with filter state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Excel reconciliation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2" y="4462272"/>
            <a:ext cx="3401568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2" y="4462272"/>
            <a:ext cx="3401568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8" y="4663440"/>
            <a:ext cx="294436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5065776"/>
            <a:ext cx="2944368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Observation and meaning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Limitation and next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med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Analytics and Communication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Reference context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K1 · A6 · LO6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packaged Tableau workbook plus reconciliation and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this layer to the next decision requirement.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med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075688"/>
            <a:ext cx="118872" cy="208483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2029968"/>
            <a:ext cx="86410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514600"/>
            <a:ext cx="9738360" cy="12618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Evidence, Assessment and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3986784"/>
            <a:ext cx="9646920" cy="6766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Turn visual analysis into a defensible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502920"/>
            <a:ext cx="210312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med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18236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basic Tableau features for displaying information.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1823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823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Synthesise various plots to present data visually.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85744"/>
            <a:ext cx="82296" cy="1328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371246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Transform data to create informative and dynamic data displays.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285744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285744"/>
            <a:ext cx="82296" cy="1328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371246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12464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77184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dashboards and scorecards to display internal and external benchmark data.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815840"/>
            <a:ext cx="82296" cy="1328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" y="524256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calculations and parameters to create interactive graphics, visuals and technical features.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815840"/>
            <a:ext cx="5193792" cy="1328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815840"/>
            <a:ext cx="82296" cy="1328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4808" y="524256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24256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907280"/>
            <a:ext cx="4123944" cy="1182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LO6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Perform analytics and communicate data limitations and interpretations of findings.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med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LMS / 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828800"/>
            <a:ext cx="3401568" cy="37490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Learner slide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Learner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4297680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Ten individual lab folders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828800"/>
            <a:ext cx="3401568" cy="37490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WA question paper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7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PP question paper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7" y="4297680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Upload your own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2" y="1828800"/>
            <a:ext cx="3401568" cy="37490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3022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2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0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Check the current TGS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0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Use the current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0" y="4297680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Contact trainer or academy</a:t>
            </a:r>
          </a:p>
        </p:txBody>
      </p:sp>
      <p:sp>
        <p:nvSpPr>
          <p:cNvPr id="25" name="Rounded Rectangle 24">
            <a:hlinkClick r:id="rId2"/>
          </p:cNvPr>
          <p:cNvSpPr/>
          <p:nvPr/>
        </p:nvSpPr>
        <p:spPr>
          <a:xfrm>
            <a:off x="4462272" y="5687568"/>
            <a:ext cx="3273552" cy="42062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Open LMS / TMS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med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PRACTICE · SELF-CHECK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Tableau 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828800"/>
            <a:ext cx="3401568" cy="37490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Check concept readiness before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Use results to target revision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28800"/>
            <a:ext cx="3401568" cy="37490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Data roles, modelling and chart 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Dashboards, calculations and responsible interpretation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2" y="1828800"/>
            <a:ext cx="3401568" cy="37490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2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2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0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Complete individually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0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Review explanations, then revisit the relevant topic and lab</a:t>
            </a:r>
          </a:p>
        </p:txBody>
      </p:sp>
      <p:sp>
        <p:nvSpPr>
          <p:cNvPr id="22" name="Rounded Rectangle 21">
            <a:hlinkClick r:id="rId2"/>
          </p:cNvPr>
          <p:cNvSpPr/>
          <p:nvPr/>
        </p:nvSpPr>
        <p:spPr>
          <a:xfrm>
            <a:off x="4462272" y="5687568"/>
            <a:ext cx="3273552" cy="42062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Open practice exam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5 open-ended knowledge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60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6 connected Tableau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60 minutes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2" y="1828800"/>
            <a:ext cx="3401568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2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2" y="2084831"/>
            <a:ext cx="2944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Submission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0" y="2871216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Complete assessment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0" y="3584448"/>
            <a:ext cx="290779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●  </a:t>
            </a:r>
            <a:r>
              <a:rPr sz="1200" b="0">
                <a:solidFill>
                  <a:srgbClr val="161B26"/>
                </a:solidFill>
                <a:latin typeface="Arial"/>
              </a:rPr>
              <a:t>Upload papers and required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med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2689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2689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5651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1683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1683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6276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6276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0555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9238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5270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5270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4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4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4142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2825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8857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8857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53451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3451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7729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6412" y="3401568"/>
            <a:ext cx="2560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2444" y="2176272"/>
            <a:ext cx="1927555" cy="2944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2444" y="2176272"/>
            <a:ext cx="1927555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37038" y="256032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37038" y="25603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1316" y="3465576"/>
            <a:ext cx="1689811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med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264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4747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676656"/>
            <a:ext cx="1078992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517904"/>
            <a:ext cx="10661904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755648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2564892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Scan the SSG QR code before starting.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55648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55648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6489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4892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47088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Training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AM and PM records for both days.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4050792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" y="486003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Minimum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 least 75% attendance is required.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50792"/>
            <a:ext cx="5193792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50792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86003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860036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142232"/>
            <a:ext cx="4123944" cy="19476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Support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Tell the trainer immediately if attendance submission fails.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med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828800"/>
            <a:ext cx="1014984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304288"/>
            <a:ext cx="10195560" cy="16276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Make the evidence easy to see — and hard to misunderstand.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24528"/>
            <a:ext cx="9985248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Connect, model, visualise, interact, analyse and communicate with explicit limits.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Visualisation with Tableau · TGS-2020503177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